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웨어하우스 프로젝트 · 1단계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011680" cy="0"/>
          </a:xfrm>
          <a:prstGeom prst="line">
            <a:avLst/>
          </a:prstGeom>
          <a:noFill/>
          <a:ln w="12700">
            <a:solidFill>
              <a:srgbClr val="DD6B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기반 데이터 웨어하우스 설계와 위험요인 규명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</a:t>
            </a:r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236,378건      Oracle Database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아니라,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설계하고 SQL로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위험요인을 분석합니다.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목적에 맞춰 원본 데이터를 정규화된 DB(DW)에 저장하고, SQL 질의로 분석 결과를 도출했습니다.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연령·성별에 따라 당뇨병 비율은 어떻게 다른가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위험도 높아지는가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부족은 어떤 관계인가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겹치면 얼마나 더 위험한가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/ 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10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건의 응답 기록  ·  CDC BRFSS 2021 건강 설문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변수(컬럼)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0" y="283464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0" y="3017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3182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(정상·전당뇨·당뇨)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0" y="388620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0" y="4069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42336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  BMI   고혈압 · 고콜레스테롤   흡연 · 운동   전반적 건강   소득 · 학력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/ 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전, 데이터를 정리했습니다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011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— 별도 처리 불필요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270662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529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852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411건을 60으로 조정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941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특성상 유효 응답으로 간주해 유지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3542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5354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값을 정수형으로 변환해 DB 저장 최적화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diabetes_clean.csv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/ 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5개 테이블로 분리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82296" cy="566928"/>
          </a:xfrm>
          <a:prstGeom prst="rect">
            <a:avLst/>
          </a:prstGeom>
          <a:solidFill>
            <a:srgbClr val="0E7C7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 · age · sex · education · income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770632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26791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791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67919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 · patient_id · bmi · high_bp · gen_hlth 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" y="34838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4838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4838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 · patient_id · smoker · phys_activity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79976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42885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428853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8853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 · patient_id · diabetes_status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3834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84648"/>
            <a:ext cx="82296" cy="566928"/>
          </a:xfrm>
          <a:prstGeom prst="rect">
            <a:avLst/>
          </a:prstGeom>
          <a:solidFill>
            <a:srgbClr val="DD6B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50932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50932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50932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 · analysis_name · category · metric_value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· FK · NOT NULL · CHECK 제약조건 적용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/ 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간의 관계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743200" cy="685800"/>
          </a:xfrm>
          <a:prstGeom prst="rect">
            <a:avLst/>
          </a:prstGeom>
          <a:solidFill>
            <a:srgbClr val="0A413D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51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</a:t>
            </a:r>
            <a:pPr indent="0" marL="0">
              <a:buNone/>
            </a:pPr>
            <a:r>
              <a:rPr lang="en-US" sz="10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0" y="187452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93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352044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3520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27432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6B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2990088"/>
            <a:ext cx="2377440" cy="-795528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990088"/>
            <a:ext cx="2377440" cy="2743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990088"/>
            <a:ext cx="2377440" cy="85039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환자가 patient_id로 건강검사·생활습관·진단 기록과 연결됩니다.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ANALYSIS_RESULT는 분석 결과를 담는 독립 테이블입니다.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/ 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SQL Developer 작업 흐름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DDL(CREATE TABLE)로 테이블 5개·시퀀스 정의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CSV를 staging 테이블에 입력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618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분배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5개 테이블에 분배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050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SELECT로 236,378건 정상 입력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테이블 236,378건 확인 · 분석 결과 29건 저장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/ 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발견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겹칠수록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위험은 급격히 커집니다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</a:t>
            </a:r>
            <a:pPr indent="0" marL="0">
              <a:buNone/>
            </a:pPr>
            <a:r>
              <a:rPr lang="en-US" sz="2200" b="1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0개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246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DD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46.4</a:t>
            </a:r>
            <a:pPr indent="0" marL="0">
              <a:buNone/>
            </a:pPr>
            <a:r>
              <a:rPr lang="en-US" sz="2200" b="1" dirty="0">
                <a:solidFill>
                  <a:srgbClr val="DD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C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5개 — 약 18배</a:t>
            </a:r>
            <a:endParaRPr lang="en-US" sz="1300" dirty="0"/>
          </a:p>
        </p:txBody>
      </p:sp>
      <p:pic>
        <p:nvPicPr>
          <p:cNvPr id="9" name="Image 0" descr="/home/user/diabetes/fig_ri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00200"/>
            <a:ext cx="4572000" cy="2788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040880" y="4434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개수별 당뇨병 비율 — 고혈압·고콜레스테롤·흡연·운동부족·비만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/ 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연령과 체중이 미치는 영향</a:t>
            </a:r>
            <a:endParaRPr lang="en-US" sz="2700" dirty="0"/>
          </a:p>
        </p:txBody>
      </p:sp>
      <p:pic>
        <p:nvPicPr>
          <p:cNvPr id="4" name="Image 0" descr="/home/user/diabetes/fig_age_bm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28800"/>
            <a:ext cx="10058400" cy="38953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나이가 많을수록, BMI가 높을수록 당뇨병 비율이 뚜렷하게 증가합니다.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/ 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사회요인 · 보호요인 · 조합효과</a:t>
            </a:r>
            <a:endParaRPr lang="en-US" sz="2700" dirty="0"/>
          </a:p>
        </p:txBody>
      </p:sp>
      <p:pic>
        <p:nvPicPr>
          <p:cNvPr id="4" name="Image 0" descr="/home/user/diabetes/fig_so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1069848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5532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소득·학력↓ </a:t>
            </a:r>
            <a:pPr indent="0" marL="0">
              <a:buNone/>
            </a:pPr>
            <a:r>
              <a:rPr lang="en-US" sz="13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위험↑    </a:t>
            </a:r>
            <a:pPr indent="0" marL="0">
              <a:buNone/>
            </a:pPr>
            <a:r>
              <a:rPr lang="en-US" sz="13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</a:t>
            </a:r>
            <a:pPr indent="0" marL="0">
              <a:buNone/>
            </a:pPr>
            <a:r>
              <a:rPr lang="en-US" sz="13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절반↓    </a:t>
            </a:r>
            <a:pPr indent="0" marL="0">
              <a:buNone/>
            </a:pPr>
            <a:r>
              <a:rPr lang="en-US" sz="13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고혈압+비만 </a:t>
            </a:r>
            <a:pPr indent="0" marL="0">
              <a:buNone/>
            </a:pPr>
            <a:r>
              <a:rPr lang="en-US" sz="1350" b="1" dirty="0">
                <a:solidFill>
                  <a:srgbClr val="DD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31.3%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/ 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고혈압·비만·고령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핵심 위험요인이며,
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운동과 사회적 여건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이를 완화합니다.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주제·데이터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설계·ER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498848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62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구현·입력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628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65776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29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분석·발표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1297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3429000"/>
            <a:ext cx="4754880" cy="2331720"/>
          </a:xfrm>
          <a:prstGeom prst="rect">
            <a:avLst/>
          </a:prstGeom>
          <a:solidFill>
            <a:srgbClr val="EDF1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069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조원별로 한 줄씩 소감을 작성해 주세요.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/ 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2026-09-28T00:43:12Z</dcterms:created>
  <dcterms:modified xsi:type="dcterms:W3CDTF">2026-09-28T00:43:12Z</dcterms:modified>
</cp:coreProperties>
</file>
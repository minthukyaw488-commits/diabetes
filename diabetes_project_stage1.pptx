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4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6916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웨어하우스 프로젝트 · 1단계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14884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당뇨병 위험요인 분석</a:t>
            </a:r>
            <a:endParaRPr lang="en-US" sz="5000" dirty="0"/>
          </a:p>
        </p:txBody>
      </p:sp>
      <p:sp>
        <p:nvSpPr>
          <p:cNvPr id="4" name="Shape 2"/>
          <p:cNvSpPr/>
          <p:nvPr/>
        </p:nvSpPr>
        <p:spPr>
          <a:xfrm>
            <a:off x="731520" y="3429000"/>
            <a:ext cx="2011680" cy="0"/>
          </a:xfrm>
          <a:prstGeom prst="line">
            <a:avLst/>
          </a:prstGeom>
          <a:noFill/>
          <a:ln w="12700">
            <a:solidFill>
              <a:srgbClr val="DD6B4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611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기반 데이터 웨어하우스 설계와 위험요인 규명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CDC BRFSS 2021</a:t>
            </a:r>
            <a:pPr indent="0" marL="0">
              <a:buNone/>
            </a:pPr>
            <a:r>
              <a:rPr lang="en-US" sz="130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236,378건      Oracle Database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6172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 이름 · 발표일 2025.__.__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머신러닝 예측이 아니라, </a:t>
            </a:r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DB를 설계하고 SQL로</a:t>
            </a:r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위험요인을 분석합니다.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286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수업 목적에 맞춰 원본 데이터를 정규화된 DB(DW)에 저장하고, SQL 질의로 분석 결과를 도출했습니다.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06324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3429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348386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연령·성별에 따라 당뇨병 비율은 어떻게 다른가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342900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348386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BMI가 높아질수록 위험도 높아지는가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7548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1783080" y="480974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고혈압·흡연·운동 부족은 어떤 관계인가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4754880"/>
            <a:ext cx="1005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4809744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위험요인이 겹치면 얼마나 더 위험한가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 / 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데이터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20240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236,378</a:t>
            </a:r>
            <a:endParaRPr lang="en-US" sz="10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429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건의 응답 기록  ·  CDC BRFSS 2021 건강 설문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0" y="196596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9784080" y="21305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변수(컬럼)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686800" y="2834640"/>
            <a:ext cx="3017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0" y="30175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9784080" y="3182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 분류 (정상·전당뇨·당뇨)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686800" y="3886200"/>
            <a:ext cx="3017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686800" y="406908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9784080" y="423367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" y="489204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029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변수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3949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당뇨 여부   BMI   고혈압 · 고콜레스테롤   흡연 · 운동   전반적 건강   소득 · 학력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 / 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전처리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전, 데이터를 정리했습니다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결측치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2011680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결과 없음 — 별도 처리 불필요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" y="2706624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85292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BMI 이상치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2852928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 초과 비현실적 값 411건을 60으로 조정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31520" y="3547872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3694176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행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3694176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설문 특성상 유효 응답으로 간주해 유지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535424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타입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4535424"/>
            <a:ext cx="7589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값을 정수형으로 변환해 DB 저장 최적화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→ diabetes_clean.csv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 / 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DB(DW) 설계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정규화된 5개 테이블로 분리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82296" cy="566928"/>
          </a:xfrm>
          <a:prstGeom prst="rect">
            <a:avLst/>
          </a:prstGeom>
          <a:solidFill>
            <a:srgbClr val="0E7C7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7552" y="1874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187452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212080" y="187452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patient_id · age · sex · education · income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2624328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770632"/>
            <a:ext cx="82296" cy="566928"/>
          </a:xfrm>
          <a:prstGeom prst="rect">
            <a:avLst/>
          </a:prstGeom>
          <a:solidFill>
            <a:srgbClr val="17211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87552" y="2679192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HEALTH_EXAM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679192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건강검사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2679192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exam_id · patient_id · bmi · high_bp · gen_hlth 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342900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575304"/>
            <a:ext cx="82296" cy="566928"/>
          </a:xfrm>
          <a:prstGeom prst="rect">
            <a:avLst/>
          </a:prstGeom>
          <a:solidFill>
            <a:srgbClr val="17211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87552" y="348386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LIFESTYLE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3483864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생활습관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3483864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lifestyle_id · patient_id · smoker · phys_activity …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4233672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4379976"/>
            <a:ext cx="82296" cy="566928"/>
          </a:xfrm>
          <a:prstGeom prst="rect">
            <a:avLst/>
          </a:prstGeom>
          <a:solidFill>
            <a:srgbClr val="17211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87552" y="4288536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428853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진단결과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212080" y="4288536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diag_id · patient_id · diabetes_status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5038344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5184648"/>
            <a:ext cx="82296" cy="566928"/>
          </a:xfrm>
          <a:prstGeom prst="rect">
            <a:avLst/>
          </a:prstGeom>
          <a:solidFill>
            <a:srgbClr val="DD6B4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87552" y="509320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ANALYSIS_RESULT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703320" y="509320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분석결과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212080" y="509320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A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result_id · analysis_name · category · metric_value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60807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· FK · NOT NULL · CHECK 제약조건 적용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 / 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 다이어그램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간의 관계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31520" y="2651760"/>
            <a:ext cx="2743200" cy="685800"/>
          </a:xfrm>
          <a:prstGeom prst="rect">
            <a:avLst/>
          </a:prstGeom>
          <a:solidFill>
            <a:srgbClr val="0A413D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651760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  </a:t>
            </a:r>
            <a:pPr indent="0" marL="0">
              <a:buNone/>
            </a:pPr>
            <a:r>
              <a:rPr lang="en-US" sz="1000" dirty="0">
                <a:solidFill>
                  <a:srgbClr val="9FC6C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환자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852160" y="1874520"/>
            <a:ext cx="37490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89320" y="187452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HEALTH_EXAM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건강검사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52160" y="2697480"/>
            <a:ext cx="37490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89320" y="26974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DIAGNOSIS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진단결과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852160" y="3520440"/>
            <a:ext cx="374904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E7C7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35204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LIFESTYLE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생활습관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4663440"/>
            <a:ext cx="2743200" cy="640080"/>
          </a:xfrm>
          <a:prstGeom prst="rect">
            <a:avLst/>
          </a:prstGeom>
          <a:solidFill>
            <a:srgbClr val="FFFFFF"/>
          </a:solidFill>
          <a:ln w="15875">
            <a:solidFill>
              <a:srgbClr val="DD6B4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8680" y="46634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ANALYSIS_RESULT  </a:t>
            </a:r>
            <a:pPr indent="0" marL="0">
              <a:buNone/>
            </a:pPr>
            <a:r>
              <a:rPr lang="en-US" sz="10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분석결과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474720" y="2990088"/>
            <a:ext cx="2377440" cy="-795528"/>
          </a:xfrm>
          <a:prstGeom prst="line">
            <a:avLst/>
          </a:prstGeom>
          <a:noFill/>
          <a:ln w="13970">
            <a:solidFill>
              <a:srgbClr val="0E7C7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74720" y="2990088"/>
            <a:ext cx="2377440" cy="27432"/>
          </a:xfrm>
          <a:prstGeom prst="line">
            <a:avLst/>
          </a:prstGeom>
          <a:noFill/>
          <a:ln w="13970">
            <a:solidFill>
              <a:srgbClr val="0E7C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74720" y="2990088"/>
            <a:ext cx="2377440" cy="850392"/>
          </a:xfrm>
          <a:prstGeom prst="line">
            <a:avLst/>
          </a:prstGeom>
          <a:noFill/>
          <a:ln w="13970">
            <a:solidFill>
              <a:srgbClr val="0E7C7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23360" y="2286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62356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명의 환자가 patient_id로 건강검사·생활습관·진단 기록과 연결됩니다.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ANALYSIS_RESULT는 분석 결과를 담는 독립 테이블입니다.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 / 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구현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Oracle SQL Developer 작업 흐름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생성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DDL(CREATE TABLE)로 테이블 5개·시퀀스 정의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3218688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4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적재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정리된 CSV를 staging 테이블에 입력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961888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4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2179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 분배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INTO … SELECT 로 5개 테이블에 분배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705088" y="214884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BE4E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0" y="27889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320040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SELECT로 236,378건 정상 입력 확인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31520" y="484632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  </a:t>
            </a:r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테이블 236,378건 확인 · 분석 결과 29건 저장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 / 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화면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Developer 구현 증거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04088" y="1938528"/>
            <a:ext cx="5312664" cy="3465576"/>
          </a:xfrm>
          <a:prstGeom prst="rect">
            <a:avLst/>
          </a:prstGeom>
          <a:solidFill>
            <a:srgbClr val="FFFFFF"/>
          </a:solidFill>
          <a:ln w="12700">
            <a:solidFill>
              <a:srgbClr val="DBE4E1"/>
            </a:solidFill>
            <a:prstDash val="solid"/>
          </a:ln>
        </p:spPr>
      </p:sp>
      <p:pic>
        <p:nvPicPr>
          <p:cNvPr id="5" name="Image 0" descr="/home/user/diabetes/evidence_dd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5257800" cy="34107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553212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DDL 실행   </a:t>
            </a:r>
            <a:pPr indent="0" marL="0">
              <a:buNone/>
            </a:pPr>
            <a:r>
              <a:rPr lang="en-US" sz="12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테이블·시퀀스 생성 완료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144768" y="1938528"/>
            <a:ext cx="5312664" cy="3465576"/>
          </a:xfrm>
          <a:prstGeom prst="rect">
            <a:avLst/>
          </a:prstGeom>
          <a:solidFill>
            <a:srgbClr val="FFFFFF"/>
          </a:solidFill>
          <a:ln w="12700">
            <a:solidFill>
              <a:srgbClr val="DBE4E1"/>
            </a:solidFill>
            <a:prstDash val="solid"/>
          </a:ln>
        </p:spPr>
      </p:sp>
      <p:pic>
        <p:nvPicPr>
          <p:cNvPr id="8" name="Image 1" descr="/home/user/diabetes/evidence_verify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965960"/>
            <a:ext cx="5257800" cy="34107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172200" y="553212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수 검증   </a:t>
            </a:r>
            <a:pPr indent="0" marL="0">
              <a:buNone/>
            </a:pPr>
            <a:r>
              <a:rPr lang="en-US" sz="12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테이블 모두 236,378건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 / 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계획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2단계에서 수행할 분석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6002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정규화된 DB를 SQL로 질의해 위험요인을 규명하고, 그 결과를 ANALYSIS_RESULT 테이블에 저장합니다.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251460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5146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통계 분석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074920" y="2514600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연령·성별·BMI·소득·학력별 당뇨병 비율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25146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 BY · CASE · AVG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31520" y="3319272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410712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410712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조합 · 상호작용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3410712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위험요인 개수, 고혈압 × 비만 등 복합 위험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341071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조건 집계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1520" y="4215384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306824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306824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 검정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4306824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요인별 오즈비(Odds Ratio) · 카이제곱 검정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430682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이진 데이터에 적합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5111496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5202936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DF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5202936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모델링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5074920" y="5202936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로지스틱 회귀로 위험요인 기여도 추정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520293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3단계 진행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617220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결과 저장 테이블(ANALYSIS_RESULT)까지 1단계에서 설계 완료 → 2단계에서 채웁니다.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  / 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669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 마무리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 · 데이터 · DB 설계 · 데이터 입력</a:t>
            </a:r>
            <a:pPr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까지</a:t>
            </a:r>
            <a:endParaRPr lang="en-US" sz="2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2500" b="1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1단계를 완료했습니다.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731520" y="2788920"/>
            <a:ext cx="1069848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017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4290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주제·데이터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3429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3931920"/>
            <a:ext cx="5303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99592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설계·ER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9959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4498848"/>
            <a:ext cx="5303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4562856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구현·입력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456285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5065776"/>
            <a:ext cx="5303520" cy="0"/>
          </a:xfrm>
          <a:prstGeom prst="line">
            <a:avLst/>
          </a:prstGeom>
          <a:noFill/>
          <a:ln w="12700">
            <a:solidFill>
              <a:srgbClr val="DBE4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129784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21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분석·발표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512978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675120" y="3429000"/>
            <a:ext cx="4754880" cy="2331720"/>
          </a:xfrm>
          <a:prstGeom prst="rect">
            <a:avLst/>
          </a:prstGeom>
          <a:solidFill>
            <a:srgbClr val="EDF1F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0" y="36576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7C7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조원 소감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40690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조원별로 한 줄씩 소감을 작성해 주세요.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332720" y="6382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00" kern="0" dirty="0">
                <a:solidFill>
                  <a:srgbClr val="7C8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 / 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2026-09-28T01:57:23Z</dcterms:created>
  <dcterms:modified xsi:type="dcterms:W3CDTF">2026-09-28T01:57:23Z</dcterms:modified>
</cp:coreProperties>
</file>
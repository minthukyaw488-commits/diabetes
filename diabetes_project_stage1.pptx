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61520" cy="6858000"/>
  <p:notesSz cx="6858000" cy="1216152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4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69164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9FC6C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웨어하우스 프로젝트 · 1단계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148840"/>
            <a:ext cx="10698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당뇨병 위험요인 분석</a:t>
            </a:r>
            <a:endParaRPr lang="en-US" sz="5000" dirty="0"/>
          </a:p>
        </p:txBody>
      </p:sp>
      <p:sp>
        <p:nvSpPr>
          <p:cNvPr id="4" name="Shape 2"/>
          <p:cNvSpPr/>
          <p:nvPr/>
        </p:nvSpPr>
        <p:spPr>
          <a:xfrm>
            <a:off x="731520" y="3429000"/>
            <a:ext cx="2011680" cy="0"/>
          </a:xfrm>
          <a:prstGeom prst="line">
            <a:avLst/>
          </a:prstGeom>
          <a:noFill/>
          <a:ln w="12700">
            <a:solidFill>
              <a:srgbClr val="DD6B4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6118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FC6C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SQL 기반 데이터 웨어하우스 설계와 위험요인 규명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58064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CDC BRFSS 2021</a:t>
            </a:r>
            <a:pPr indent="0" marL="0">
              <a:buNone/>
            </a:pPr>
            <a:r>
              <a:rPr lang="en-US" sz="1300" dirty="0">
                <a:solidFill>
                  <a:srgbClr val="9FC6C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   236,378건      Oracle Database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6172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 이름 · 발표일 2025.__.__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6692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E7C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51560"/>
            <a:ext cx="10332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머신러닝 예측이 아니라, </a:t>
            </a:r>
            <a:pPr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0E7C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DB를 설계하고 SQL로</a:t>
            </a:r>
            <a:pPr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위험요인을 분석합니다.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2860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수업 목적에 맞춰 원본 데이터를 정규화된 DB(DW)에 저장하고, SQL 질의로 분석 결과를 도출했습니다.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3063240"/>
            <a:ext cx="10698480" cy="0"/>
          </a:xfrm>
          <a:prstGeom prst="line">
            <a:avLst/>
          </a:prstGeom>
          <a:noFill/>
          <a:ln w="12700">
            <a:solidFill>
              <a:srgbClr val="DBE4E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3429000"/>
            <a:ext cx="1005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DF1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1783080" y="3483864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연령·성별에 따라 당뇨병 비율은 어떻게 다른가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6263640" y="3429000"/>
            <a:ext cx="1005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DF1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7315200" y="3483864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BMI가 높아질수록 위험도 높아지는가</a:t>
            </a:r>
            <a:endParaRPr lang="en-US" sz="145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4754880"/>
            <a:ext cx="1005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DF1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1783080" y="4809744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고혈압·흡연·운동 부족은 어떤 관계인가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4754880"/>
            <a:ext cx="1005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DF1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34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0" y="4809744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위험요인이 겹치면 얼마나 더 위험한가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10332720" y="638251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 /  09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6692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E7C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6868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 데이터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920240"/>
            <a:ext cx="7863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400" b="1" dirty="0">
                <a:solidFill>
                  <a:srgbClr val="0E7C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236,378</a:t>
            </a:r>
            <a:endParaRPr lang="en-US" sz="10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4290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건의 응답 기록  ·  CDC BRFSS 2021 건강 설문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686800" y="196596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22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9784080" y="2130552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변수(컬럼)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8686800" y="2834640"/>
            <a:ext cx="3017520" cy="0"/>
          </a:xfrm>
          <a:prstGeom prst="line">
            <a:avLst/>
          </a:prstGeom>
          <a:noFill/>
          <a:ln w="12700">
            <a:solidFill>
              <a:srgbClr val="DBE4E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686800" y="301752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9784080" y="3182112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당뇨 분류 (정상·전당뇨·당뇨)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686800" y="3886200"/>
            <a:ext cx="3017520" cy="0"/>
          </a:xfrm>
          <a:prstGeom prst="line">
            <a:avLst/>
          </a:prstGeom>
          <a:noFill/>
          <a:ln w="12700">
            <a:solidFill>
              <a:srgbClr val="DBE4E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686800" y="406908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</a:t>
            </a:r>
            <a:endParaRPr lang="en-US" sz="3400" dirty="0"/>
          </a:p>
        </p:txBody>
      </p:sp>
      <p:sp>
        <p:nvSpPr>
          <p:cNvPr id="13" name="Text 11"/>
          <p:cNvSpPr txBox="1"/>
          <p:nvPr/>
        </p:nvSpPr>
        <p:spPr>
          <a:xfrm>
            <a:off x="9784080" y="4233672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결측치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731520" y="4892040"/>
            <a:ext cx="10698480" cy="0"/>
          </a:xfrm>
          <a:prstGeom prst="line">
            <a:avLst/>
          </a:prstGeom>
          <a:noFill/>
          <a:ln w="12700">
            <a:solidFill>
              <a:srgbClr val="DBE4E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50292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변수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731520" y="539496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당뇨 여부   BMI   고혈압 · 고콜레스테롤   흡연 · 운동   전반적 건강   소득 · 학력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0332720" y="638251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 /  09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6692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E7C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전처리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686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 전, 데이터를 정리했습니다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01168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결측치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3840480" y="2011680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 결과 없음 — 별도 처리 불필요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731520" y="2706624"/>
            <a:ext cx="10698480" cy="0"/>
          </a:xfrm>
          <a:prstGeom prst="line">
            <a:avLst/>
          </a:prstGeom>
          <a:noFill/>
          <a:ln w="12700">
            <a:solidFill>
              <a:srgbClr val="DBE4E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2852928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BMI 이상치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3840480" y="2852928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60 초과 비현실적 값 411건을 60으로 조정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731520" y="3547872"/>
            <a:ext cx="10698480" cy="0"/>
          </a:xfrm>
          <a:prstGeom prst="line">
            <a:avLst/>
          </a:prstGeom>
          <a:noFill/>
          <a:ln w="12700">
            <a:solidFill>
              <a:srgbClr val="DBE4E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3694176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 행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3840480" y="3694176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설문 특성상 유효 응답으로 간주해 유지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731520" y="4389120"/>
            <a:ext cx="10698480" cy="0"/>
          </a:xfrm>
          <a:prstGeom prst="line">
            <a:avLst/>
          </a:prstGeom>
          <a:noFill/>
          <a:ln w="12700">
            <a:solidFill>
              <a:srgbClr val="DBE4E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4535424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타입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3840480" y="4535424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값을 정수형으로 변환해 DB 저장 최적화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58064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0E7C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 → diabetes_clean.csv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10332720" y="638251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 /  09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6692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E7C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DB(DW) 설계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686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정규화된 5개 테이블로 분리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31520" y="1965960"/>
            <a:ext cx="82296" cy="566928"/>
          </a:xfrm>
          <a:prstGeom prst="rect">
            <a:avLst/>
          </a:prstGeom>
          <a:solidFill>
            <a:srgbClr val="0E7C74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87552" y="187452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PATIENT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3703320" y="187452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환자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5212080" y="1874520"/>
            <a:ext cx="6217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8A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patient_id · age · sex · education · income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731520" y="2624328"/>
            <a:ext cx="10698480" cy="0"/>
          </a:xfrm>
          <a:prstGeom prst="line">
            <a:avLst/>
          </a:prstGeom>
          <a:noFill/>
          <a:ln w="12700">
            <a:solidFill>
              <a:srgbClr val="DBE4E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" y="2770632"/>
            <a:ext cx="82296" cy="566928"/>
          </a:xfrm>
          <a:prstGeom prst="rect">
            <a:avLst/>
          </a:prstGeom>
          <a:solidFill>
            <a:srgbClr val="17211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87552" y="2679192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HEALTH_EXAM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703320" y="2679192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건강검사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5212080" y="2679192"/>
            <a:ext cx="6217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8A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exam_id · patient_id · bmi · high_bp · gen_hlth …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31520" y="3429000"/>
            <a:ext cx="10698480" cy="0"/>
          </a:xfrm>
          <a:prstGeom prst="line">
            <a:avLst/>
          </a:prstGeom>
          <a:noFill/>
          <a:ln w="12700">
            <a:solidFill>
              <a:srgbClr val="DBE4E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1520" y="3575304"/>
            <a:ext cx="82296" cy="566928"/>
          </a:xfrm>
          <a:prstGeom prst="rect">
            <a:avLst/>
          </a:prstGeom>
          <a:solidFill>
            <a:srgbClr val="17211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87552" y="3483864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LIFESTYLE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3703320" y="3483864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생활습관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5212080" y="3483864"/>
            <a:ext cx="6217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8A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lifestyle_id · patient_id · smoker · phys_activity …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31520" y="4233672"/>
            <a:ext cx="10698480" cy="0"/>
          </a:xfrm>
          <a:prstGeom prst="line">
            <a:avLst/>
          </a:prstGeom>
          <a:noFill/>
          <a:ln w="12700">
            <a:solidFill>
              <a:srgbClr val="DBE4E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31520" y="4379976"/>
            <a:ext cx="82296" cy="566928"/>
          </a:xfrm>
          <a:prstGeom prst="rect">
            <a:avLst/>
          </a:prstGeom>
          <a:solidFill>
            <a:srgbClr val="17211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87552" y="4288536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DIAGNOSIS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3703320" y="4288536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진단결과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5212080" y="4288536"/>
            <a:ext cx="6217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8A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diag_id · patient_id · diabetes_status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731520" y="5038344"/>
            <a:ext cx="10698480" cy="0"/>
          </a:xfrm>
          <a:prstGeom prst="line">
            <a:avLst/>
          </a:prstGeom>
          <a:noFill/>
          <a:ln w="12700">
            <a:solidFill>
              <a:srgbClr val="DBE4E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31520" y="5184648"/>
            <a:ext cx="82296" cy="566928"/>
          </a:xfrm>
          <a:prstGeom prst="rect">
            <a:avLst/>
          </a:prstGeom>
          <a:solidFill>
            <a:srgbClr val="DD6B4D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87552" y="5093208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ANALYSIS_RESULT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3703320" y="5093208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분석결과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5212080" y="5093208"/>
            <a:ext cx="6217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8A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result_id · analysis_name · category · metric_value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731520" y="6080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PK · FK · NOT NULL · CHECK 제약조건 적용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10332720" y="638251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 /  09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6692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E7C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ER 다이어그램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686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테이블 간의 관계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31520" y="2651760"/>
            <a:ext cx="2743200" cy="685800"/>
          </a:xfrm>
          <a:prstGeom prst="rect">
            <a:avLst/>
          </a:prstGeom>
          <a:solidFill>
            <a:srgbClr val="0A413D"/>
          </a:solidFill>
          <a:ln w="15875">
            <a:solidFill>
              <a:srgbClr val="0E7C7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65176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PATIENT  </a:t>
            </a:r>
            <a:pPr indent="0" marL="0">
              <a:buNone/>
            </a:pPr>
            <a:r>
              <a:rPr lang="en-US" sz="1000" dirty="0">
                <a:solidFill>
                  <a:srgbClr val="9FC6C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환자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852160" y="1874520"/>
            <a:ext cx="3749040" cy="640080"/>
          </a:xfrm>
          <a:prstGeom prst="rect">
            <a:avLst/>
          </a:prstGeom>
          <a:solidFill>
            <a:srgbClr val="FFFFFF"/>
          </a:solidFill>
          <a:ln w="15875">
            <a:solidFill>
              <a:srgbClr val="0E7C7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89320" y="187452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HEALTH_EXAM  </a:t>
            </a:r>
            <a:pPr indent="0" marL="0">
              <a:buNone/>
            </a:pPr>
            <a:r>
              <a:rPr lang="en-US" sz="100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건강검사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852160" y="2697480"/>
            <a:ext cx="3749040" cy="640080"/>
          </a:xfrm>
          <a:prstGeom prst="rect">
            <a:avLst/>
          </a:prstGeom>
          <a:solidFill>
            <a:srgbClr val="FFFFFF"/>
          </a:solidFill>
          <a:ln w="15875">
            <a:solidFill>
              <a:srgbClr val="0E7C7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989320" y="269748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DIAGNOSIS  </a:t>
            </a:r>
            <a:pPr indent="0" marL="0">
              <a:buNone/>
            </a:pPr>
            <a:r>
              <a:rPr lang="en-US" sz="100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진단결과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852160" y="3520440"/>
            <a:ext cx="3749040" cy="640080"/>
          </a:xfrm>
          <a:prstGeom prst="rect">
            <a:avLst/>
          </a:prstGeom>
          <a:solidFill>
            <a:srgbClr val="FFFFFF"/>
          </a:solidFill>
          <a:ln w="15875">
            <a:solidFill>
              <a:srgbClr val="0E7C7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989320" y="352044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LIFESTYLE  </a:t>
            </a:r>
            <a:pPr indent="0" marL="0">
              <a:buNone/>
            </a:pPr>
            <a:r>
              <a:rPr lang="en-US" sz="100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생활습관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31520" y="4663440"/>
            <a:ext cx="2743200" cy="640080"/>
          </a:xfrm>
          <a:prstGeom prst="rect">
            <a:avLst/>
          </a:prstGeom>
          <a:solidFill>
            <a:srgbClr val="FFFFFF"/>
          </a:solidFill>
          <a:ln w="15875">
            <a:solidFill>
              <a:srgbClr val="DD6B4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68680" y="466344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ANALYSIS_RESULT  </a:t>
            </a:r>
            <a:pPr indent="0" marL="0">
              <a:buNone/>
            </a:pPr>
            <a:r>
              <a:rPr lang="en-US" sz="100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분석결과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3474720" y="2990088"/>
            <a:ext cx="2377440" cy="-795528"/>
          </a:xfrm>
          <a:prstGeom prst="line">
            <a:avLst/>
          </a:prstGeom>
          <a:noFill/>
          <a:ln w="13970">
            <a:solidFill>
              <a:srgbClr val="0E7C7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474720" y="2990088"/>
            <a:ext cx="2377440" cy="27432"/>
          </a:xfrm>
          <a:prstGeom prst="line">
            <a:avLst/>
          </a:prstGeom>
          <a:noFill/>
          <a:ln w="13970">
            <a:solidFill>
              <a:srgbClr val="0E7C7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474720" y="2990088"/>
            <a:ext cx="2377440" cy="850392"/>
          </a:xfrm>
          <a:prstGeom prst="line">
            <a:avLst/>
          </a:prstGeom>
          <a:noFill/>
          <a:ln w="13970">
            <a:solidFill>
              <a:srgbClr val="0E7C7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023360" y="22860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: N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731520" y="562356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명의 환자가 patient_id로 건강검사·생활습관·진단 기록과 연결됩니다.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ANALYSIS_RESULT는 분석 결과를 담는 독립 테이블입니다.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0332720" y="638251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  /  09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6692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E7C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 구현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686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Oracle SQL Developer 작업 흐름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10312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7C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7889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테이블 생성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200400"/>
            <a:ext cx="2468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DDL(CREATE TABLE)로 테이블 5개·시퀀스 정의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3218688" y="2148840"/>
            <a:ext cx="256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DBE4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3474720" y="210312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7C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27889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적재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3200400"/>
            <a:ext cx="2468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정리된 CSV를 staging 테이블에 입력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5961888" y="2148840"/>
            <a:ext cx="256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DBE4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6217920" y="210312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7C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6217920" y="27889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정규화 분배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217920" y="3200400"/>
            <a:ext cx="2468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INSERT INTO … SELECT 로 5개 테이블에 분배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705088" y="2148840"/>
            <a:ext cx="256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DBE4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8961120" y="210312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7C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8961120" y="27889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0" y="3200400"/>
            <a:ext cx="2468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SELECT로 236,378건 정상 입력 확인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731520" y="4846320"/>
            <a:ext cx="10698480" cy="0"/>
          </a:xfrm>
          <a:prstGeom prst="line">
            <a:avLst/>
          </a:prstGeom>
          <a:noFill/>
          <a:ln w="12700">
            <a:solidFill>
              <a:srgbClr val="DBE4E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31520" y="507492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7C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   </a:t>
            </a:r>
            <a:pPr indent="0" marL="0">
              <a:buNone/>
            </a:pPr>
            <a:r>
              <a:rPr lang="en-US" sz="1400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테이블 236,378건 확인 · 분석 결과 29건 저장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332720" y="638251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  /  09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6692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E7C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 계획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686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2단계에서 수행할 분석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60020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정규화된 DB를 SQL로 질의해 위험요인을 규명하고, 그 결과를 ANALYSIS_RESULT 테이블에 저장합니다.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10698480" cy="0"/>
          </a:xfrm>
          <a:prstGeom prst="line">
            <a:avLst/>
          </a:prstGeom>
          <a:noFill/>
          <a:ln w="12700">
            <a:solidFill>
              <a:srgbClr val="DBE4E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2514600"/>
            <a:ext cx="822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DF1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1691640" y="251460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 통계 분석</a:t>
            </a:r>
            <a:endParaRPr lang="en-US" sz="1550" dirty="0"/>
          </a:p>
        </p:txBody>
      </p:sp>
      <p:sp>
        <p:nvSpPr>
          <p:cNvPr id="8" name="Text 6"/>
          <p:cNvSpPr txBox="1"/>
          <p:nvPr/>
        </p:nvSpPr>
        <p:spPr>
          <a:xfrm>
            <a:off x="5074920" y="2514600"/>
            <a:ext cx="4754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연령·성별·BMI·소득·학력별 당뇨병 비율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9875520" y="2514600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E7C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GROUP BY · CASE · AVG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731520" y="3319272"/>
            <a:ext cx="10698480" cy="0"/>
          </a:xfrm>
          <a:prstGeom prst="line">
            <a:avLst/>
          </a:prstGeom>
          <a:noFill/>
          <a:ln w="12700">
            <a:solidFill>
              <a:srgbClr val="DBE4E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3410712"/>
            <a:ext cx="822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DF1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1691640" y="3410712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조합 · 상호작용</a:t>
            </a:r>
            <a:endParaRPr lang="en-US" sz="1550" dirty="0"/>
          </a:p>
        </p:txBody>
      </p:sp>
      <p:sp>
        <p:nvSpPr>
          <p:cNvPr id="13" name="Text 11"/>
          <p:cNvSpPr txBox="1"/>
          <p:nvPr/>
        </p:nvSpPr>
        <p:spPr>
          <a:xfrm>
            <a:off x="5074920" y="3410712"/>
            <a:ext cx="4754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위험요인 개수, 고혈압 × 비만 등 복합 위험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9875520" y="3410712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E7C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다중 조건 집계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731520" y="4215384"/>
            <a:ext cx="10698480" cy="0"/>
          </a:xfrm>
          <a:prstGeom prst="line">
            <a:avLst/>
          </a:prstGeom>
          <a:noFill/>
          <a:ln w="12700">
            <a:solidFill>
              <a:srgbClr val="DBE4E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31520" y="4306824"/>
            <a:ext cx="822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DF1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2400" dirty="0"/>
          </a:p>
        </p:txBody>
      </p:sp>
      <p:sp>
        <p:nvSpPr>
          <p:cNvPr id="17" name="Text 15"/>
          <p:cNvSpPr txBox="1"/>
          <p:nvPr/>
        </p:nvSpPr>
        <p:spPr>
          <a:xfrm>
            <a:off x="1691640" y="4306824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통계 검정</a:t>
            </a:r>
            <a:endParaRPr lang="en-US" sz="1550" dirty="0"/>
          </a:p>
        </p:txBody>
      </p:sp>
      <p:sp>
        <p:nvSpPr>
          <p:cNvPr id="18" name="Text 16"/>
          <p:cNvSpPr txBox="1"/>
          <p:nvPr/>
        </p:nvSpPr>
        <p:spPr>
          <a:xfrm>
            <a:off x="5074920" y="4306824"/>
            <a:ext cx="4754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요인별 오즈비(Odds Ratio) · 카이제곱 검정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9875520" y="4306824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E7C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이진 데이터에 적합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31520" y="5111496"/>
            <a:ext cx="10698480" cy="0"/>
          </a:xfrm>
          <a:prstGeom prst="line">
            <a:avLst/>
          </a:prstGeom>
          <a:noFill/>
          <a:ln w="12700">
            <a:solidFill>
              <a:srgbClr val="DBE4E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1520" y="5202936"/>
            <a:ext cx="822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DF1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2400" dirty="0"/>
          </a:p>
        </p:txBody>
      </p:sp>
      <p:sp>
        <p:nvSpPr>
          <p:cNvPr id="22" name="Text 20"/>
          <p:cNvSpPr txBox="1"/>
          <p:nvPr/>
        </p:nvSpPr>
        <p:spPr>
          <a:xfrm>
            <a:off x="1691640" y="5202936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 모델링</a:t>
            </a:r>
            <a:endParaRPr lang="en-US" sz="1550" dirty="0"/>
          </a:p>
        </p:txBody>
      </p:sp>
      <p:sp>
        <p:nvSpPr>
          <p:cNvPr id="23" name="Text 21"/>
          <p:cNvSpPr txBox="1"/>
          <p:nvPr/>
        </p:nvSpPr>
        <p:spPr>
          <a:xfrm>
            <a:off x="5074920" y="5202936"/>
            <a:ext cx="4754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로지스틱 회귀로 위험요인 기여도 추정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9875520" y="5202936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E7C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3단계 진행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731520" y="6172200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0E7C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 결과 저장 테이블(ANALYSIS_RESULT)까지 1단계에서 설계 완료 → 2단계에서 채웁니다.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10332720" y="638251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  /  09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6692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E7C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1단계 마무리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51560"/>
            <a:ext cx="10332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2500" b="1" dirty="0">
                <a:solidFill>
                  <a:srgbClr val="0E7C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주제 · 데이터 · DB 설계 · 데이터 입력</a:t>
            </a:r>
            <a:pPr indent="0" marL="0">
              <a:lnSpc>
                <a:spcPct val="118000"/>
              </a:lnSpc>
              <a:buNone/>
            </a:pPr>
            <a:r>
              <a:rPr lang="en-US" sz="2500" b="1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까지</a:t>
            </a:r>
            <a:endParaRPr lang="en-US" sz="25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2500" b="1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1단계를 완료했습니다.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731520" y="2788920"/>
            <a:ext cx="10698480" cy="0"/>
          </a:xfrm>
          <a:prstGeom prst="line">
            <a:avLst/>
          </a:prstGeom>
          <a:noFill/>
          <a:ln w="12700">
            <a:solidFill>
              <a:srgbClr val="DBE4E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0175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 분담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42900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주제·데이터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572000" y="34290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OOO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31520" y="3931920"/>
            <a:ext cx="5303520" cy="0"/>
          </a:xfrm>
          <a:prstGeom prst="line">
            <a:avLst/>
          </a:prstGeom>
          <a:noFill/>
          <a:ln w="12700">
            <a:solidFill>
              <a:srgbClr val="DBE4E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3995928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 설계·ER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572000" y="399592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OOO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31520" y="4498848"/>
            <a:ext cx="5303520" cy="0"/>
          </a:xfrm>
          <a:prstGeom prst="line">
            <a:avLst/>
          </a:prstGeom>
          <a:noFill/>
          <a:ln w="12700">
            <a:solidFill>
              <a:srgbClr val="DBE4E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1520" y="4562856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 구현·입력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0" y="4562856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OOO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31520" y="5065776"/>
            <a:ext cx="5303520" cy="0"/>
          </a:xfrm>
          <a:prstGeom prst="line">
            <a:avLst/>
          </a:prstGeom>
          <a:noFill/>
          <a:ln w="12700">
            <a:solidFill>
              <a:srgbClr val="DBE4E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5129784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SQL 분석·발표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0" y="5129784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OOO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675120" y="3429000"/>
            <a:ext cx="4754880" cy="2331720"/>
          </a:xfrm>
          <a:prstGeom prst="rect">
            <a:avLst/>
          </a:prstGeom>
          <a:solidFill>
            <a:srgbClr val="EDF1F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949440" y="36576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조원 소감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949440" y="406908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조원별로 한 줄씩 소감을 작성해 주세요.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0332720" y="638251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09  /  09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2026-09-28T01:09:04Z</dcterms:created>
  <dcterms:modified xsi:type="dcterms:W3CDTF">2026-09-28T01:09:04Z</dcterms:modified>
</cp:coreProperties>
</file>
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61520" cy="6858000"/>
  <p:notesSz cx="6858000" cy="1216152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당뇨병 비율(%)</c:v>
                </c:pt>
              </c:strCache>
            </c:strRef>
          </c:tx>
          <c:spPr>
            <a:solidFill>
              <a:srgbClr val="0E808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A2A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18-24</c:v>
                  </c:pt>
                  <c:pt idx="1">
                    <c:v>25-34</c:v>
                  </c:pt>
                  <c:pt idx="2">
                    <c:v>35-44</c:v>
                  </c:pt>
                  <c:pt idx="3">
                    <c:v>45-54</c:v>
                  </c:pt>
                  <c:pt idx="4">
                    <c:v>55-64</c:v>
                  </c:pt>
                  <c:pt idx="5">
                    <c:v>65-74</c:v>
                  </c:pt>
                  <c:pt idx="6">
                    <c:v>75+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1.45</c:v>
                </c:pt>
                <c:pt idx="1">
                  <c:v>2.65</c:v>
                </c:pt>
                <c:pt idx="2">
                  <c:v>5.5</c:v>
                </c:pt>
                <c:pt idx="3">
                  <c:v>12.87</c:v>
                </c:pt>
                <c:pt idx="4">
                  <c:v>18.7</c:v>
                </c:pt>
                <c:pt idx="5">
                  <c:v>20.8</c:v>
                </c:pt>
                <c:pt idx="6">
                  <c:v>21.2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E2A2A"/>
                  </a:solidFill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E8383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당뇨병 비율(%)</c:v>
                </c:pt>
              </c:strCache>
            </c:strRef>
          </c:tx>
          <c:spPr>
            <a:solidFill>
              <a:srgbClr val="9FC9C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E2A2A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FC9C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FC9C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9A66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06D4F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저체중</c:v>
                  </c:pt>
                  <c:pt idx="1">
                    <c:v>정상</c:v>
                  </c:pt>
                  <c:pt idx="2">
                    <c:v>과체중</c:v>
                  </c:pt>
                  <c:pt idx="3">
                    <c:v>비만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5.97</c:v>
                </c:pt>
                <c:pt idx="1">
                  <c:v>6.29</c:v>
                </c:pt>
                <c:pt idx="2">
                  <c:v>11.57</c:v>
                </c:pt>
                <c:pt idx="3">
                  <c:v>21.77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E2A2A"/>
                  </a:solidFill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E8383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당뇨병 비율(%)</c:v>
                </c:pt>
              </c:strCache>
            </c:strRef>
          </c:tx>
          <c:spPr>
            <a:solidFill>
              <a:srgbClr val="9FC9C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FC9C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FC9C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E808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9A66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0885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06D4F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0개</c:v>
                  </c:pt>
                  <c:pt idx="1">
                    <c:v>1개</c:v>
                  </c:pt>
                  <c:pt idx="2">
                    <c:v>2개</c:v>
                  </c:pt>
                  <c:pt idx="3">
                    <c:v>3개</c:v>
                  </c:pt>
                  <c:pt idx="4">
                    <c:v>4개</c:v>
                  </c:pt>
                  <c:pt idx="5">
                    <c:v>5개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2.57</c:v>
                </c:pt>
                <c:pt idx="1">
                  <c:v>5.89</c:v>
                </c:pt>
                <c:pt idx="2">
                  <c:v>13.11</c:v>
                </c:pt>
                <c:pt idx="3">
                  <c:v>23.51</c:v>
                </c:pt>
                <c:pt idx="4">
                  <c:v>34.91</c:v>
                </c:pt>
                <c:pt idx="5">
                  <c:v>46.4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FC9C8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당뇨병 위험요인을 SQL로 분석하는 프로젝트입니다. 머신러닝 예측이 아니라 DB/DW 설계와 SQL 분석에 초점을 맞췄습니다.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위험요인이 겹칠수록 당뇨병 비율이 급격히 증가합니다. 0개 2.6%에서 5개 46.4%로 약 18배 높아집니다.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3B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C3B3B"/>
          </a:solidFill>
          <a:ln/>
        </p:spPr>
      </p:sp>
      <p:sp>
        <p:nvSpPr>
          <p:cNvPr id="3" name="Shape 1"/>
          <p:cNvSpPr/>
          <p:nvPr/>
        </p:nvSpPr>
        <p:spPr>
          <a:xfrm>
            <a:off x="9966960" y="-1005840"/>
            <a:ext cx="3291840" cy="3291840"/>
          </a:xfrm>
          <a:prstGeom prst="ellipse">
            <a:avLst/>
          </a:prstGeom>
          <a:solidFill>
            <a:srgbClr val="0E8080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881360" y="4754880"/>
            <a:ext cx="2468880" cy="2468880"/>
          </a:xfrm>
          <a:prstGeom prst="ellipse">
            <a:avLst/>
          </a:prstGeom>
          <a:solidFill>
            <a:srgbClr val="E06D4F">
              <a:alpha val="32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9FC9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1단계 · DB / DW 설계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2860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당뇨병 위험요인 분석</a:t>
            </a:r>
            <a:endParaRPr lang="en-US" sz="4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2461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FC9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당뇨병 데이터 웨어하우스 구축 및 SQL 분석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886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838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CDC BRFSS 2021 · 236,378건 · Oracle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C9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 이름 · 발표일 2025.__.__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0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OVERVIEW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개요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80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주제  </a:t>
            </a:r>
            <a:pPr indent="0" marL="0">
              <a:buNone/>
            </a:pPr>
            <a:r>
              <a:rPr lang="en-US" sz="1600" dirty="0">
                <a:solidFill>
                  <a:srgbClr val="1E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당뇨병 관련 요인(연령·성별·BMI·생활습관 등)과 당뇨병의 관계를 SQL로 분석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1488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80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  </a:t>
            </a:r>
            <a:pPr indent="0" marL="0">
              <a:buNone/>
            </a:pPr>
            <a:r>
              <a:rPr lang="en-US" sz="1600" dirty="0">
                <a:solidFill>
                  <a:srgbClr val="1E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머신러닝 예측이 아닌, 수업 목적에 맞게 DB/DW를 설계하고 데이터를 저장한 뒤 SQL로 분석 결과를 도출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0175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분석 질문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352044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7F6"/>
          </a:solidFill>
          <a:ln/>
        </p:spPr>
      </p:sp>
      <p:sp>
        <p:nvSpPr>
          <p:cNvPr id="8" name="Shape 6"/>
          <p:cNvSpPr/>
          <p:nvPr/>
        </p:nvSpPr>
        <p:spPr>
          <a:xfrm>
            <a:off x="713232" y="3639312"/>
            <a:ext cx="329184" cy="329184"/>
          </a:xfrm>
          <a:prstGeom prst="ellipse">
            <a:avLst/>
          </a:prstGeom>
          <a:solidFill>
            <a:srgbClr val="0E808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36393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52044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연령대·성별에 따라 당뇨병 비율이 어떻게 다른가?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4233672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7F6"/>
          </a:solidFill>
          <a:ln/>
        </p:spPr>
      </p:sp>
      <p:sp>
        <p:nvSpPr>
          <p:cNvPr id="12" name="Shape 10"/>
          <p:cNvSpPr/>
          <p:nvPr/>
        </p:nvSpPr>
        <p:spPr>
          <a:xfrm>
            <a:off x="713232" y="4352544"/>
            <a:ext cx="329184" cy="329184"/>
          </a:xfrm>
          <a:prstGeom prst="ellipse">
            <a:avLst/>
          </a:prstGeom>
          <a:solidFill>
            <a:srgbClr val="0E808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13232" y="43525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4233672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BMI가 높아질수록 당뇨병 비율도 높아지는가?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4946904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7F6"/>
          </a:solidFill>
          <a:ln/>
        </p:spPr>
      </p:sp>
      <p:sp>
        <p:nvSpPr>
          <p:cNvPr id="16" name="Shape 14"/>
          <p:cNvSpPr/>
          <p:nvPr/>
        </p:nvSpPr>
        <p:spPr>
          <a:xfrm>
            <a:off x="713232" y="5065776"/>
            <a:ext cx="329184" cy="329184"/>
          </a:xfrm>
          <a:prstGeom prst="ellipse">
            <a:avLst/>
          </a:prstGeom>
          <a:solidFill>
            <a:srgbClr val="0E808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13232" y="50657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4946904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고혈압·흡연·운동 부족 등이 당뇨병과 어떤 관계인가?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48640" y="5660136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7F6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5779008"/>
            <a:ext cx="329184" cy="329184"/>
          </a:xfrm>
          <a:prstGeom prst="ellipse">
            <a:avLst/>
          </a:prstGeom>
          <a:solidFill>
            <a:srgbClr val="0E808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57790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566013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위험요인이 겹치면 당뇨병 비율은 얼마나 높아지는가?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0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소개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838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CDC BRFSS 2021 — Behavioral Risk Factor Surveillance System (미국 건강 설문)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2560320" cy="1554480"/>
          </a:xfrm>
          <a:prstGeom prst="roundRect">
            <a:avLst>
              <a:gd name="adj" fmla="val 5882"/>
            </a:avLst>
          </a:prstGeom>
          <a:solidFill>
            <a:srgbClr val="0C3B3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228600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236,378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2724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C9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응답자 (행)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337560" y="2103120"/>
            <a:ext cx="2560320" cy="1554480"/>
          </a:xfrm>
          <a:prstGeom prst="roundRect">
            <a:avLst>
              <a:gd name="adj" fmla="val 5882"/>
            </a:avLst>
          </a:prstGeom>
          <a:solidFill>
            <a:srgbClr val="0C3B3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337560" y="228600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3337560" y="312724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C9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 (컬럼)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126480" y="2103120"/>
            <a:ext cx="2560320" cy="1554480"/>
          </a:xfrm>
          <a:prstGeom prst="roundRect">
            <a:avLst>
              <a:gd name="adj" fmla="val 5882"/>
            </a:avLst>
          </a:prstGeom>
          <a:solidFill>
            <a:srgbClr val="0C3B3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126480" y="228600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6126480" y="312724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C9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당뇨 분류 (0·1·2)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915400" y="2103120"/>
            <a:ext cx="2560320" cy="1554480"/>
          </a:xfrm>
          <a:prstGeom prst="roundRect">
            <a:avLst>
              <a:gd name="adj" fmla="val 5882"/>
            </a:avLst>
          </a:prstGeom>
          <a:solidFill>
            <a:srgbClr val="0C3B3B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15400" y="228600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</a:t>
            </a:r>
            <a:endParaRPr lang="en-US" sz="40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312724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C9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결측치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233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변수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5262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80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Diabetes_012   </a:t>
            </a:r>
            <a:pPr indent="0" marL="0">
              <a:buNone/>
            </a:pPr>
            <a:r>
              <a:rPr lang="en-US" sz="1350" dirty="0">
                <a:solidFill>
                  <a:srgbClr val="1E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당뇨 여부 (0 정상 · 1 전당뇨 · 2 당뇨)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6172200" y="45262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80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 / Sex   </a:t>
            </a:r>
            <a:pPr indent="0" marL="0">
              <a:buNone/>
            </a:pPr>
            <a:r>
              <a:rPr lang="en-US" sz="1350" dirty="0">
                <a:solidFill>
                  <a:srgbClr val="1E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연령대(1~13) · 성별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184648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80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BMI   </a:t>
            </a:r>
            <a:pPr indent="0" marL="0">
              <a:buNone/>
            </a:pPr>
            <a:r>
              <a:rPr lang="en-US" sz="1350" dirty="0">
                <a:solidFill>
                  <a:srgbClr val="1E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체질량지수 (연속형)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6172200" y="5184648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80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HighBP / HighChol   </a:t>
            </a:r>
            <a:pPr indent="0" marL="0">
              <a:buNone/>
            </a:pPr>
            <a:r>
              <a:rPr lang="en-US" sz="1350" dirty="0">
                <a:solidFill>
                  <a:srgbClr val="1E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고혈압 · 고콜레스테롤 여부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843016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80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Smoker / PhysActivity   </a:t>
            </a:r>
            <a:pPr indent="0" marL="0">
              <a:buNone/>
            </a:pPr>
            <a:r>
              <a:rPr lang="en-US" sz="1350" dirty="0">
                <a:solidFill>
                  <a:srgbClr val="1E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흡연 · 운동 여부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6172200" y="5843016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80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GenHlth / Income   </a:t>
            </a:r>
            <a:pPr indent="0" marL="0">
              <a:buNone/>
            </a:pPr>
            <a:r>
              <a:rPr lang="en-US" sz="1350" dirty="0">
                <a:solidFill>
                  <a:srgbClr val="1E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전반적 건강상태 · 소득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0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PREPROCESSING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전처리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3F7F6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075688"/>
            <a:ext cx="457200" cy="457200"/>
          </a:xfrm>
          <a:prstGeom prst="ellipse">
            <a:avLst/>
          </a:prstGeom>
          <a:solidFill>
            <a:srgbClr val="0E808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075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7568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결측치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69748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E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결과 없음 → 별도 처리 불필요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172200" y="1783080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3F7F6"/>
          </a:solidFill>
          <a:ln/>
        </p:spPr>
      </p:sp>
      <p:sp>
        <p:nvSpPr>
          <p:cNvPr id="10" name="Shape 8"/>
          <p:cNvSpPr/>
          <p:nvPr/>
        </p:nvSpPr>
        <p:spPr>
          <a:xfrm>
            <a:off x="6446520" y="2075688"/>
            <a:ext cx="457200" cy="457200"/>
          </a:xfrm>
          <a:prstGeom prst="ellipse">
            <a:avLst/>
          </a:prstGeom>
          <a:solidFill>
            <a:srgbClr val="E06D4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46520" y="2075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7086600" y="207568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BMI 이상치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6492240" y="269748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E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 초과 비현실적 값 411건 → 60으로 제한(cap)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548640" y="3931920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3F7F6"/>
          </a:solidFill>
          <a:ln/>
        </p:spPr>
      </p:sp>
      <p:sp>
        <p:nvSpPr>
          <p:cNvPr id="15" name="Shape 13"/>
          <p:cNvSpPr/>
          <p:nvPr/>
        </p:nvSpPr>
        <p:spPr>
          <a:xfrm>
            <a:off x="822960" y="4224528"/>
            <a:ext cx="457200" cy="457200"/>
          </a:xfrm>
          <a:prstGeom prst="ellipse">
            <a:avLst/>
          </a:prstGeom>
          <a:solidFill>
            <a:srgbClr val="0E808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2960" y="4224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422452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행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868680" y="484632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E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12,800건 → 설문 특성상 의도적으로 유지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6172200" y="3931920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3F7F6"/>
          </a:solidFill>
          <a:ln/>
        </p:spPr>
      </p:sp>
      <p:sp>
        <p:nvSpPr>
          <p:cNvPr id="20" name="Shape 18"/>
          <p:cNvSpPr/>
          <p:nvPr/>
        </p:nvSpPr>
        <p:spPr>
          <a:xfrm>
            <a:off x="6446520" y="4224528"/>
            <a:ext cx="457200" cy="457200"/>
          </a:xfrm>
          <a:prstGeom prst="ellipse">
            <a:avLst/>
          </a:prstGeom>
          <a:solidFill>
            <a:srgbClr val="0E808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46520" y="4224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7086600" y="422452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타입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6492240" y="484632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E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값이 정수 → 정수형으로 변환 (DB 저장 최적화)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6172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838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 결과 → diabetes_clean.csv 로 저장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0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DATABASE DESIGN (정규화 3NF)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DB(DW) 설계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8132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838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22컬럼 → 정규화하여 5개 테이블로 분리 (PK–FK 관계)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11064240" cy="713232"/>
          </a:xfrm>
          <a:prstGeom prst="roundRect">
            <a:avLst>
              <a:gd name="adj" fmla="val 8974"/>
            </a:avLst>
          </a:prstGeom>
          <a:solidFill>
            <a:srgbClr val="F3F7F6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011680"/>
            <a:ext cx="146304" cy="713232"/>
          </a:xfrm>
          <a:prstGeom prst="roundRect">
            <a:avLst>
              <a:gd name="adj" fmla="val 18750"/>
            </a:avLst>
          </a:prstGeom>
          <a:solidFill>
            <a:srgbClr val="0C3B3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2011680"/>
            <a:ext cx="3383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 (환자)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4343400" y="2011680"/>
            <a:ext cx="7132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83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patient_id(PK), age, sex, education, income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852928"/>
            <a:ext cx="11064240" cy="713232"/>
          </a:xfrm>
          <a:prstGeom prst="roundRect">
            <a:avLst>
              <a:gd name="adj" fmla="val 8974"/>
            </a:avLst>
          </a:prstGeom>
          <a:solidFill>
            <a:srgbClr val="F3F7F6"/>
          </a:solidFill>
          <a:ln/>
        </p:spPr>
      </p:sp>
      <p:sp>
        <p:nvSpPr>
          <p:cNvPr id="10" name="Shape 8"/>
          <p:cNvSpPr/>
          <p:nvPr/>
        </p:nvSpPr>
        <p:spPr>
          <a:xfrm>
            <a:off x="548640" y="2852928"/>
            <a:ext cx="146304" cy="713232"/>
          </a:xfrm>
          <a:prstGeom prst="roundRect">
            <a:avLst>
              <a:gd name="adj" fmla="val 18750"/>
            </a:avLst>
          </a:prstGeom>
          <a:solidFill>
            <a:srgbClr val="0E808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68680" y="2852928"/>
            <a:ext cx="3383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HEALTH_EXAM (건강검사)</a:t>
            </a:r>
            <a:endParaRPr lang="en-US" sz="1550" dirty="0"/>
          </a:p>
        </p:txBody>
      </p:sp>
      <p:sp>
        <p:nvSpPr>
          <p:cNvPr id="12" name="Text 10"/>
          <p:cNvSpPr txBox="1"/>
          <p:nvPr/>
        </p:nvSpPr>
        <p:spPr>
          <a:xfrm>
            <a:off x="4343400" y="2852928"/>
            <a:ext cx="7132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83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exam_id(PK), patient_id(FK), bmi, high_bp, gen_hlth …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694176"/>
            <a:ext cx="11064240" cy="713232"/>
          </a:xfrm>
          <a:prstGeom prst="roundRect">
            <a:avLst>
              <a:gd name="adj" fmla="val 8974"/>
            </a:avLst>
          </a:prstGeom>
          <a:solidFill>
            <a:srgbClr val="F3F7F6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640" y="3694176"/>
            <a:ext cx="146304" cy="713232"/>
          </a:xfrm>
          <a:prstGeom prst="roundRect">
            <a:avLst>
              <a:gd name="adj" fmla="val 18750"/>
            </a:avLst>
          </a:prstGeom>
          <a:solidFill>
            <a:srgbClr val="0E808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68680" y="3694176"/>
            <a:ext cx="3383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LIFESTYLE (생활습관)</a:t>
            </a:r>
            <a:endParaRPr lang="en-US" sz="1550" dirty="0"/>
          </a:p>
        </p:txBody>
      </p:sp>
      <p:sp>
        <p:nvSpPr>
          <p:cNvPr id="16" name="Text 14"/>
          <p:cNvSpPr txBox="1"/>
          <p:nvPr/>
        </p:nvSpPr>
        <p:spPr>
          <a:xfrm>
            <a:off x="4343400" y="3694176"/>
            <a:ext cx="7132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83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lifestyle_id(PK), patient_id(FK), smoker, phys_activity …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4535424"/>
            <a:ext cx="11064240" cy="713232"/>
          </a:xfrm>
          <a:prstGeom prst="roundRect">
            <a:avLst>
              <a:gd name="adj" fmla="val 8974"/>
            </a:avLst>
          </a:prstGeom>
          <a:solidFill>
            <a:srgbClr val="F3F7F6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4535424"/>
            <a:ext cx="146304" cy="713232"/>
          </a:xfrm>
          <a:prstGeom prst="roundRect">
            <a:avLst>
              <a:gd name="adj" fmla="val 18750"/>
            </a:avLst>
          </a:prstGeom>
          <a:solidFill>
            <a:srgbClr val="0E808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68680" y="4535424"/>
            <a:ext cx="3383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DIAGNOSIS (진단결과)</a:t>
            </a:r>
            <a:endParaRPr lang="en-US" sz="1550" dirty="0"/>
          </a:p>
        </p:txBody>
      </p:sp>
      <p:sp>
        <p:nvSpPr>
          <p:cNvPr id="20" name="Text 18"/>
          <p:cNvSpPr txBox="1"/>
          <p:nvPr/>
        </p:nvSpPr>
        <p:spPr>
          <a:xfrm>
            <a:off x="4343400" y="4535424"/>
            <a:ext cx="7132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83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diag_id(PK), patient_id(FK), diabetes_status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5376672"/>
            <a:ext cx="11064240" cy="713232"/>
          </a:xfrm>
          <a:prstGeom prst="roundRect">
            <a:avLst>
              <a:gd name="adj" fmla="val 8974"/>
            </a:avLst>
          </a:prstGeom>
          <a:solidFill>
            <a:srgbClr val="F3F7F6"/>
          </a:solidFill>
          <a:ln/>
        </p:spPr>
      </p:sp>
      <p:sp>
        <p:nvSpPr>
          <p:cNvPr id="22" name="Shape 20"/>
          <p:cNvSpPr/>
          <p:nvPr/>
        </p:nvSpPr>
        <p:spPr>
          <a:xfrm>
            <a:off x="548640" y="5376672"/>
            <a:ext cx="146304" cy="713232"/>
          </a:xfrm>
          <a:prstGeom prst="roundRect">
            <a:avLst>
              <a:gd name="adj" fmla="val 18750"/>
            </a:avLst>
          </a:prstGeom>
          <a:solidFill>
            <a:srgbClr val="E06D4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68680" y="5376672"/>
            <a:ext cx="3383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ANALYSIS_RESULT (분석결과)</a:t>
            </a:r>
            <a:endParaRPr lang="en-US" sz="1550" dirty="0"/>
          </a:p>
        </p:txBody>
      </p:sp>
      <p:sp>
        <p:nvSpPr>
          <p:cNvPr id="24" name="Text 22"/>
          <p:cNvSpPr txBox="1"/>
          <p:nvPr/>
        </p:nvSpPr>
        <p:spPr>
          <a:xfrm>
            <a:off x="4343400" y="5376672"/>
            <a:ext cx="7132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83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result_id(PK), analysis_name, category, metric_value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2636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0E80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제약조건: PRIMARY KEY · FOREIGN KEY · NOT NULL · CHECK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0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ER DIAGRAM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ER 다이어그램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83464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9050">
            <a:solidFill>
              <a:srgbClr val="0C3B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468880"/>
            <a:ext cx="2834640" cy="402336"/>
          </a:xfrm>
          <a:prstGeom prst="rect">
            <a:avLst/>
          </a:prstGeom>
          <a:solidFill>
            <a:srgbClr val="0C3B3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9808" y="2468880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  환자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2889504"/>
            <a:ext cx="2606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A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PK patient_id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3136392"/>
            <a:ext cx="2606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A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age, sex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3383280"/>
            <a:ext cx="2606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A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education, income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035040" y="1417320"/>
            <a:ext cx="283464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9050">
            <a:solidFill>
              <a:srgbClr val="0E808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035040" y="1417320"/>
            <a:ext cx="2834640" cy="402336"/>
          </a:xfrm>
          <a:prstGeom prst="rect">
            <a:avLst/>
          </a:prstGeom>
          <a:solidFill>
            <a:srgbClr val="0E808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144768" y="1417320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HEALTH_EXAM  건강검사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163056" y="1837944"/>
            <a:ext cx="2606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A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PK exam_id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6163056" y="2084832"/>
            <a:ext cx="2606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A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FK patient_id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6163056" y="2331720"/>
            <a:ext cx="2606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A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bmi, high_bp …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035040" y="3063240"/>
            <a:ext cx="283464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9050">
            <a:solidFill>
              <a:srgbClr val="0E808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035040" y="3063240"/>
            <a:ext cx="2834640" cy="402336"/>
          </a:xfrm>
          <a:prstGeom prst="rect">
            <a:avLst/>
          </a:prstGeom>
          <a:solidFill>
            <a:srgbClr val="0E808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144768" y="3063240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DIAGNOSIS  진단결과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163056" y="3483864"/>
            <a:ext cx="2606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A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PK diag_id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6163056" y="3730752"/>
            <a:ext cx="2606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A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FK patient_id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6163056" y="3977640"/>
            <a:ext cx="2606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A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diabetes_status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035040" y="4617720"/>
            <a:ext cx="283464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9050">
            <a:solidFill>
              <a:srgbClr val="0E808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35040" y="4617720"/>
            <a:ext cx="2834640" cy="402336"/>
          </a:xfrm>
          <a:prstGeom prst="rect">
            <a:avLst/>
          </a:prstGeom>
          <a:solidFill>
            <a:srgbClr val="0E808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144768" y="4617720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LIFESTYLE  생활습관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6163056" y="5038344"/>
            <a:ext cx="2606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A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PK lifestyle_id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6163056" y="5285232"/>
            <a:ext cx="2606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A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FK patient_id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6163056" y="5532120"/>
            <a:ext cx="2606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A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smoker …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40080" y="4892040"/>
            <a:ext cx="283464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9050">
            <a:solidFill>
              <a:srgbClr val="E06D4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" y="4892040"/>
            <a:ext cx="2834640" cy="402336"/>
          </a:xfrm>
          <a:prstGeom prst="rect">
            <a:avLst/>
          </a:prstGeom>
          <a:solidFill>
            <a:srgbClr val="E06D4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49808" y="4892040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ANALYSIS_RESULT  분석결과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768096" y="5312664"/>
            <a:ext cx="2606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A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PK result_id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768096" y="5559552"/>
            <a:ext cx="2606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A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analysis_name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768096" y="5806440"/>
            <a:ext cx="2606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A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metric_value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3474720" y="2971800"/>
            <a:ext cx="2560320" cy="-1005840"/>
          </a:xfrm>
          <a:prstGeom prst="line">
            <a:avLst/>
          </a:prstGeom>
          <a:noFill/>
          <a:ln w="19050">
            <a:solidFill>
              <a:srgbClr val="0E808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474720" y="2971800"/>
            <a:ext cx="2560320" cy="640080"/>
          </a:xfrm>
          <a:prstGeom prst="line">
            <a:avLst/>
          </a:prstGeom>
          <a:noFill/>
          <a:ln w="19050">
            <a:solidFill>
              <a:srgbClr val="0E808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474720" y="2971800"/>
            <a:ext cx="2560320" cy="2194560"/>
          </a:xfrm>
          <a:prstGeom prst="line">
            <a:avLst/>
          </a:prstGeom>
          <a:noFill/>
          <a:ln w="19050">
            <a:solidFill>
              <a:srgbClr val="0E808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160520" y="23317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838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E838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명의 PATIENT가 patient_id(FK)로 각 검사·생활·진단 기록과 연결됩니다. ANALYSIS_RESULT는 분석 결과 저장용(FK 없음).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0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IMPLEMENTATION (Oracle SQL Developer)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구현 및 데이터 입력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005840" cy="868680"/>
          </a:xfrm>
          <a:prstGeom prst="roundRect">
            <a:avLst>
              <a:gd name="adj" fmla="val 8421"/>
            </a:avLst>
          </a:prstGeom>
          <a:solidFill>
            <a:srgbClr val="0E808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783080"/>
            <a:ext cx="1005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783080" y="18562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DDL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783080" y="2240280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838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CREATE TABLE 로 staging·정규화 테이블 5개·시퀀스 생성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862072"/>
            <a:ext cx="1005840" cy="868680"/>
          </a:xfrm>
          <a:prstGeom prst="roundRect">
            <a:avLst>
              <a:gd name="adj" fmla="val 8421"/>
            </a:avLst>
          </a:prstGeom>
          <a:solidFill>
            <a:srgbClr val="0E808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862072"/>
            <a:ext cx="1005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1783080" y="29352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적재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783080" y="3319272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838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정리된 CSV(236,378건)를 Import 로 staging 테이블에 입력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941064"/>
            <a:ext cx="1005840" cy="868680"/>
          </a:xfrm>
          <a:prstGeom prst="roundRect">
            <a:avLst>
              <a:gd name="adj" fmla="val 8421"/>
            </a:avLst>
          </a:prstGeom>
          <a:solidFill>
            <a:srgbClr val="0E808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941064"/>
            <a:ext cx="1005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1783080" y="401421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분배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783080" y="4398264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838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INSERT INTO … SELECT 로 정규화 테이블 5개에 데이터 분배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5020056"/>
            <a:ext cx="1005840" cy="868680"/>
          </a:xfrm>
          <a:prstGeom prst="roundRect">
            <a:avLst>
              <a:gd name="adj" fmla="val 8421"/>
            </a:avLst>
          </a:prstGeom>
          <a:solidFill>
            <a:srgbClr val="0E808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5020056"/>
            <a:ext cx="1005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1783080" y="509320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1783080" y="5477256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838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SELECT 로 각 테이블 236,378건 정상 입력 확인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2636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E80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SELECT 결과: 모든 테이블 236,378건 확인 완료  ·  분석 결과 29건 저장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0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 ANALYSIS (1/2)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결과 ① 연령 · BMI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연령대별 당뇨병 비율 (%)</a:t>
            </a: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828800"/>
          <a:ext cx="53949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309360" y="14630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BMI 구간별 당뇨병 비율 (%)</a:t>
            </a:r>
            <a:endParaRPr lang="en-US" sz="1500" dirty="0"/>
          </a:p>
        </p:txBody>
      </p:sp>
      <p:graphicFrame>
        <p:nvGraphicFramePr>
          <p:cNvPr id="7" name="Chart 1" descr=""/>
          <p:cNvGraphicFramePr/>
          <p:nvPr/>
        </p:nvGraphicFramePr>
        <p:xfrm>
          <a:off x="6217920" y="1828800"/>
          <a:ext cx="53949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48640" y="6172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838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나이가 많을수록, BMI가 높을수록 당뇨병 비율이 뚜렷하게 증가합니다.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C3B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FC9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 ANALYSIS (2/2)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결과 ② 위험요인 개수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37360"/>
          <a:ext cx="676656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17220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38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위험요인: 고혈압·고콜레스테롤·흡연·운동부족·비만(BMI≥30)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7680960" y="2011680"/>
            <a:ext cx="3931920" cy="3749040"/>
          </a:xfrm>
          <a:prstGeom prst="roundRect">
            <a:avLst>
              <a:gd name="adj" fmla="val 2439"/>
            </a:avLst>
          </a:prstGeom>
          <a:solidFill>
            <a:srgbClr val="0E808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955280" y="22860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결론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955280" y="278892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2.6%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7955280" y="340156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C9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위험요인 0개일 때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7955280" y="37033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7955280" y="402336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E0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46.4%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7955280" y="4645152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E0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위험요인 5개일 때 — 약 18배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0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분담 및 소감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분담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11064240" cy="548640"/>
          </a:xfrm>
          <a:prstGeom prst="roundRect">
            <a:avLst>
              <a:gd name="adj" fmla="val 10000"/>
            </a:avLst>
          </a:prstGeom>
          <a:solidFill>
            <a:srgbClr val="F3F7F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0116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E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주제 · 데이터 확보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8778240" y="201168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50" b="1" dirty="0">
                <a:solidFill>
                  <a:srgbClr val="0E80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OOO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48640" y="2670048"/>
            <a:ext cx="11064240" cy="548640"/>
          </a:xfrm>
          <a:prstGeom prst="roundRect">
            <a:avLst>
              <a:gd name="adj" fmla="val 10000"/>
            </a:avLst>
          </a:prstGeom>
          <a:solidFill>
            <a:srgbClr val="F3F7F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267004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E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DB(DW) 설계 · ER 다이어그램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8778240" y="267004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50" b="1" dirty="0">
                <a:solidFill>
                  <a:srgbClr val="0E80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OOO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48640" y="3328416"/>
            <a:ext cx="11064240" cy="548640"/>
          </a:xfrm>
          <a:prstGeom prst="roundRect">
            <a:avLst>
              <a:gd name="adj" fmla="val 10000"/>
            </a:avLst>
          </a:prstGeom>
          <a:solidFill>
            <a:srgbClr val="F3F7F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3328416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E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구현 · 데이터 입력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8778240" y="3328416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50" b="1" dirty="0">
                <a:solidFill>
                  <a:srgbClr val="0E80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OOO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548640" y="3986784"/>
            <a:ext cx="11064240" cy="548640"/>
          </a:xfrm>
          <a:prstGeom prst="roundRect">
            <a:avLst>
              <a:gd name="adj" fmla="val 10000"/>
            </a:avLst>
          </a:prstGeom>
          <a:solidFill>
            <a:srgbClr val="F3F7F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3986784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E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 분석 · 발표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8778240" y="3986784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50" b="1" dirty="0">
                <a:solidFill>
                  <a:srgbClr val="0E80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OOO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548640" y="4892040"/>
            <a:ext cx="11064240" cy="1417320"/>
          </a:xfrm>
          <a:prstGeom prst="roundRect">
            <a:avLst>
              <a:gd name="adj" fmla="val 6452"/>
            </a:avLst>
          </a:prstGeom>
          <a:solidFill>
            <a:srgbClr val="0C3B3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68680" y="5074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조원 소감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548640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C9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조원별로 한 줄씩 소감을 작성해 주세요.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2026-09-22T15:29:04Z</dcterms:created>
  <dcterms:modified xsi:type="dcterms:W3CDTF">2026-09-22T15:29:04Z</dcterms:modified>
</cp:coreProperties>
</file>
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당뇨병 비율(%)</c:v>
                </c:pt>
              </c:strCache>
            </c:strRef>
          </c:tx>
          <c:spPr>
            <a:solidFill>
              <a:srgbClr val="0E8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A2A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18-24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55-64</c:v>
                  </c:pt>
                  <c:pt idx="5">
                    <c:v>65-74</c:v>
                  </c:pt>
                  <c:pt idx="6">
                    <c:v>75+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1.45</c:v>
                </c:pt>
                <c:pt idx="1">
                  <c:v>2.65</c:v>
                </c:pt>
                <c:pt idx="2">
                  <c:v>5.5</c:v>
                </c:pt>
                <c:pt idx="3">
                  <c:v>12.87</c:v>
                </c:pt>
                <c:pt idx="4">
                  <c:v>18.7</c:v>
                </c:pt>
                <c:pt idx="5">
                  <c:v>20.8</c:v>
                </c:pt>
                <c:pt idx="6">
                  <c:v>21.2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A2A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838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당뇨병 비율(%)</c:v>
                </c:pt>
              </c:strCache>
            </c:strRef>
          </c:tx>
          <c:spPr>
            <a:solidFill>
              <a:srgbClr val="9FC9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2A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C9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C9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A6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6D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저체중</c:v>
                  </c:pt>
                  <c:pt idx="1">
                    <c:v>정상</c:v>
                  </c:pt>
                  <c:pt idx="2">
                    <c:v>과체중</c:v>
                  </c:pt>
                  <c:pt idx="3">
                    <c:v>비만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5.97</c:v>
                </c:pt>
                <c:pt idx="1">
                  <c:v>6.29</c:v>
                </c:pt>
                <c:pt idx="2">
                  <c:v>11.57</c:v>
                </c:pt>
                <c:pt idx="3">
                  <c:v>21.77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A2A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838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당뇨병 비율(%)</c:v>
                </c:pt>
              </c:strCache>
            </c:strRef>
          </c:tx>
          <c:spPr>
            <a:solidFill>
              <a:srgbClr val="9FC9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C9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C9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80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A6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885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6D4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0개</c:v>
                  </c:pt>
                  <c:pt idx="1">
                    <c:v>1개</c:v>
                  </c:pt>
                  <c:pt idx="2">
                    <c:v>2개</c:v>
                  </c:pt>
                  <c:pt idx="3">
                    <c:v>3개</c:v>
                  </c:pt>
                  <c:pt idx="4">
                    <c:v>4개</c:v>
                  </c:pt>
                  <c:pt idx="5">
                    <c:v>5개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2.57</c:v>
                </c:pt>
                <c:pt idx="1">
                  <c:v>5.89</c:v>
                </c:pt>
                <c:pt idx="2">
                  <c:v>13.11</c:v>
                </c:pt>
                <c:pt idx="3">
                  <c:v>23.51</c:v>
                </c:pt>
                <c:pt idx="4">
                  <c:v>34.91</c:v>
                </c:pt>
                <c:pt idx="5">
                  <c:v>46.4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C9C8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당뇨병 위험요인을 SQL로 분석하는 프로젝트입니다. 머신러닝 예측이 아니라 DB/DW 설계와 SQL 분석에 초점을 맞췄습니다.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위험요인이 겹칠수록 당뇨병 비율이 급격히 증가합니다. 0개 2.6%에서 5개 46.4%로 약 18배 높아집니다.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소득·학력이 낮을수록 당뇨병 비율이 높고(사회적 격차), 운동은 보호 요인이며, 고혈압과 비만이 함께 있으면 위험이 급증합니다.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3B3B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05840"/>
            <a:ext cx="3291840" cy="3291840"/>
          </a:xfrm>
          <a:prstGeom prst="ellipse">
            <a:avLst/>
          </a:prstGeom>
          <a:solidFill>
            <a:srgbClr val="0E808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754880"/>
            <a:ext cx="2468880" cy="2468880"/>
          </a:xfrm>
          <a:prstGeom prst="ellipse">
            <a:avLst/>
          </a:prstGeom>
          <a:solidFill>
            <a:srgbClr val="E06D4F">
              <a:alpha val="3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C9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1단계 · DB / DW 설계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당뇨병 위험요인 분석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C9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당뇨병 데이터 웨어하우스 구축 및 SQL 분석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BRFSS 2021 · 236,378건 · Oracle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이름 · 발표일 2025.__.__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 </a:t>
            </a:r>
            <a:pPr indent="0" marL="0">
              <a:buNone/>
            </a:pPr>
            <a:r>
              <a:rPr lang="en-US" sz="160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당뇨병 관련 요인(연령·성별·BMI·생활습관 등)과 당뇨병의 관계를 SQL로 분석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 </a:t>
            </a:r>
            <a:pPr indent="0" marL="0">
              <a:buNone/>
            </a:pPr>
            <a:r>
              <a:rPr lang="en-US" sz="160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예측이 아닌, 수업 목적에 맞게 DB/DW를 설계하고 데이터를 저장한 뒤 SQL로 분석 결과를 도출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분석 질문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7F6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3639312"/>
            <a:ext cx="329184" cy="329184"/>
          </a:xfrm>
          <a:prstGeom prst="ellipse">
            <a:avLst/>
          </a:prstGeom>
          <a:solidFill>
            <a:srgbClr val="0E80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5204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연령대·성별에 따라 당뇨병 비율이 어떻게 다른가?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3367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4352544"/>
            <a:ext cx="329184" cy="329184"/>
          </a:xfrm>
          <a:prstGeom prst="ellipse">
            <a:avLst/>
          </a:prstGeom>
          <a:solidFill>
            <a:srgbClr val="0E80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4352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23367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BMI가 높아질수록 당뇨병 비율도 높아지는가?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946904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5065776"/>
            <a:ext cx="329184" cy="329184"/>
          </a:xfrm>
          <a:prstGeom prst="ellipse">
            <a:avLst/>
          </a:prstGeom>
          <a:solidFill>
            <a:srgbClr val="0E80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5065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469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고혈압·흡연·운동 부족 등이 당뇨병과 어떤 관계인가?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660136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3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5779008"/>
            <a:ext cx="329184" cy="329184"/>
          </a:xfrm>
          <a:prstGeom prst="ellipse">
            <a:avLst/>
          </a:prstGeom>
          <a:solidFill>
            <a:srgbClr val="0E80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5779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6601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위험요인이 겹치면 당뇨병 비율은 얼마나 높아지는가?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BRFSS 2021 — Behavioral Risk Factor Surveillance System (미국 건강 설문)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C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236,378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7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C9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응답자 (행)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C3B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3127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C9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(컬럼)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C3B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127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C9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당뇨 분류 (0·1·2)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C3B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1540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3127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C9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변수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26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Diabetes_012   </a:t>
            </a:r>
            <a:pPr indent="0" marL="0">
              <a:buNone/>
            </a:pPr>
            <a:r>
              <a:rPr lang="en-US" sz="13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당뇨 여부 (0 정상 · 1 전당뇨 · 2 당뇨)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4526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 / Sex   </a:t>
            </a:r>
            <a:pPr indent="0" marL="0">
              <a:buNone/>
            </a:pPr>
            <a:r>
              <a:rPr lang="en-US" sz="13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연령대(1~13) · 성별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8464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BMI   </a:t>
            </a:r>
            <a:pPr indent="0" marL="0">
              <a:buNone/>
            </a:pPr>
            <a:r>
              <a:rPr lang="en-US" sz="13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체질량지수 (연속형)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518464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HighBP / HighChol   </a:t>
            </a:r>
            <a:pPr indent="0" marL="0">
              <a:buNone/>
            </a:pPr>
            <a:r>
              <a:rPr lang="en-US" sz="13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고혈압 · 고콜레스테롤 여부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4301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Smoker / PhysActivity   </a:t>
            </a:r>
            <a:pPr indent="0" marL="0">
              <a:buNone/>
            </a:pPr>
            <a:r>
              <a:rPr lang="en-US" sz="13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흡연 · 운동 여부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584301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GenHlth / Income   </a:t>
            </a:r>
            <a:pPr indent="0" marL="0">
              <a:buNone/>
            </a:pPr>
            <a:r>
              <a:rPr lang="en-US" sz="13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전반적 건강상태 · 소득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전처리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3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75688"/>
            <a:ext cx="457200" cy="457200"/>
          </a:xfrm>
          <a:prstGeom prst="ellipse">
            <a:avLst/>
          </a:prstGeom>
          <a:solidFill>
            <a:srgbClr val="0E80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75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결과 없음 → 별도 처리 불필요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3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75688"/>
            <a:ext cx="457200" cy="457200"/>
          </a:xfrm>
          <a:prstGeom prst="ellipse">
            <a:avLst/>
          </a:prstGeom>
          <a:solidFill>
            <a:srgbClr val="E06D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75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BMI 이상치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초과 비현실적 값 411건 → 60으로 제한(cap)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3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24528"/>
            <a:ext cx="457200" cy="457200"/>
          </a:xfrm>
          <a:prstGeom prst="ellipse">
            <a:avLst/>
          </a:prstGeom>
          <a:solidFill>
            <a:srgbClr val="0E808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행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46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12,800건 → 설문 특성상 의도적으로 유지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3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E80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타입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846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값이 정수 → 정수형으로 변환 (DB 저장 최적화)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결과 → diabetes_clean.csv 로 저장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 DESIGN (정규화 3NF)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DB(DW) 설계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22컬럼 → 정규화하여 5개 테이블로 분리 (PK–FK 관계)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3F7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146304" cy="713232"/>
          </a:xfrm>
          <a:prstGeom prst="roundRect">
            <a:avLst>
              <a:gd name="adj" fmla="val 18750"/>
            </a:avLst>
          </a:prstGeom>
          <a:solidFill>
            <a:srgbClr val="0C3B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 (환자)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01168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3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patient_id(PK), age, sex, education, income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3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852928"/>
            <a:ext cx="146304" cy="713232"/>
          </a:xfrm>
          <a:prstGeom prst="roundRect">
            <a:avLst>
              <a:gd name="adj" fmla="val 18750"/>
            </a:avLst>
          </a:prstGeom>
          <a:solidFill>
            <a:srgbClr val="0E80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85292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HEALTH_EXAM (건강검사)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85292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3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exam_id(PK), patient_id(FK), bmi, high_bp, gen_hlth …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3F7F6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694176"/>
            <a:ext cx="146304" cy="713232"/>
          </a:xfrm>
          <a:prstGeom prst="roundRect">
            <a:avLst>
              <a:gd name="adj" fmla="val 18750"/>
            </a:avLst>
          </a:prstGeom>
          <a:solidFill>
            <a:srgbClr val="0E808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69417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LIFESTYLE (생활습관)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694176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3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lifestyle_id(PK), patient_id(FK), smoker, phys_activity …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535424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3F7F6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535424"/>
            <a:ext cx="146304" cy="713232"/>
          </a:xfrm>
          <a:prstGeom prst="roundRect">
            <a:avLst>
              <a:gd name="adj" fmla="val 18750"/>
            </a:avLst>
          </a:prstGeom>
          <a:solidFill>
            <a:srgbClr val="0E808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53542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DIAGNOSIS (진단결과)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4535424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3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diag_id(PK), patient_id(FK), diabetes_status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76672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3F7F6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376672"/>
            <a:ext cx="146304" cy="713232"/>
          </a:xfrm>
          <a:prstGeom prst="roundRect">
            <a:avLst>
              <a:gd name="adj" fmla="val 18750"/>
            </a:avLst>
          </a:prstGeom>
          <a:solidFill>
            <a:srgbClr val="E06D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537667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ANALYSIS_RESULT (분석결과)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53766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83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result_id(PK), analysis_name, category, metric_value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제약조건: PRIMARY KEY · FOREIGN KEY · NOT NULL · CHECK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 다이어그램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83464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9050">
            <a:solidFill>
              <a:srgbClr val="0C3B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468880"/>
            <a:ext cx="2834640" cy="402336"/>
          </a:xfrm>
          <a:prstGeom prst="rect">
            <a:avLst/>
          </a:prstGeom>
          <a:solidFill>
            <a:srgbClr val="0C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4688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  환자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88950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patient_id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13639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age, sex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38328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education, income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83464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9050">
            <a:solidFill>
              <a:srgbClr val="0E8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417320"/>
            <a:ext cx="2834640" cy="402336"/>
          </a:xfrm>
          <a:prstGeom prst="rect">
            <a:avLst/>
          </a:prstGeom>
          <a:solidFill>
            <a:srgbClr val="0E80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44768" y="14173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HEALTH_EXAM  건강검사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163056" y="183794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exam_id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163056" y="20848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patient_id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163056" y="233172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bmi, high_bp …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283464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9050">
            <a:solidFill>
              <a:srgbClr val="0E8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063240"/>
            <a:ext cx="2834640" cy="402336"/>
          </a:xfrm>
          <a:prstGeom prst="rect">
            <a:avLst/>
          </a:prstGeom>
          <a:solidFill>
            <a:srgbClr val="0E80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44768" y="3063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DIAGNOSIS  진단결과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163056" y="348386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diag_id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163056" y="373075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patient_id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163056" y="397764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diabetes_status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4617720"/>
            <a:ext cx="283464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9050">
            <a:solidFill>
              <a:srgbClr val="0E8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4617720"/>
            <a:ext cx="2834640" cy="402336"/>
          </a:xfrm>
          <a:prstGeom prst="rect">
            <a:avLst/>
          </a:prstGeom>
          <a:solidFill>
            <a:srgbClr val="0E808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44768" y="46177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LIFESTYLE  생활습관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163056" y="503834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lifestyle_id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63056" y="52852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patient_id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553212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smoker …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283464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9050">
            <a:solidFill>
              <a:srgbClr val="E06D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892040"/>
            <a:ext cx="2834640" cy="402336"/>
          </a:xfrm>
          <a:prstGeom prst="rect">
            <a:avLst/>
          </a:prstGeom>
          <a:solidFill>
            <a:srgbClr val="E06D4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9808" y="48920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ANALYSIS_RESULT  분석결과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68096" y="531266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result_id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68096" y="555955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analysis_name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68096" y="580644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metric_value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0" y="2971800"/>
            <a:ext cx="2560320" cy="-1005840"/>
          </a:xfrm>
          <a:prstGeom prst="line">
            <a:avLst/>
          </a:prstGeom>
          <a:noFill/>
          <a:ln w="19050">
            <a:solidFill>
              <a:srgbClr val="0E80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0" y="2971800"/>
            <a:ext cx="2560320" cy="640080"/>
          </a:xfrm>
          <a:prstGeom prst="line">
            <a:avLst/>
          </a:prstGeom>
          <a:noFill/>
          <a:ln w="19050">
            <a:solidFill>
              <a:srgbClr val="0E80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0" y="2971800"/>
            <a:ext cx="2560320" cy="2194560"/>
          </a:xfrm>
          <a:prstGeom prst="line">
            <a:avLst/>
          </a:prstGeom>
          <a:noFill/>
          <a:ln w="19050">
            <a:solidFill>
              <a:srgbClr val="0E808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6052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명의 PATIENT가 patient_id(FK)로 각 검사·생활·진단 기록과 연결됩니다. ANALYSIS_RESULT는 분석 결과 저장용(FK 없음).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(Oracle SQL Developer)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구현 및 데이터 입력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05840" cy="868680"/>
          </a:xfrm>
          <a:prstGeom prst="roundRect">
            <a:avLst>
              <a:gd name="adj" fmla="val 8421"/>
            </a:avLst>
          </a:prstGeom>
          <a:solidFill>
            <a:srgbClr val="0E80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856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2402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 TABLE 로 staging·정규화 테이블 5개·시퀀스 생성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1005840" cy="868680"/>
          </a:xfrm>
          <a:prstGeom prst="roundRect">
            <a:avLst>
              <a:gd name="adj" fmla="val 8421"/>
            </a:avLst>
          </a:prstGeom>
          <a:solidFill>
            <a:srgbClr val="0E80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6207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9352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31927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정리된 CSV(236,378건)를 Import 로 staging 테이블에 입력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005840" cy="868680"/>
          </a:xfrm>
          <a:prstGeom prst="roundRect">
            <a:avLst>
              <a:gd name="adj" fmla="val 8421"/>
            </a:avLst>
          </a:prstGeom>
          <a:solidFill>
            <a:srgbClr val="0E80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41064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40142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398264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 INTO … SELECT 로 정규화 테이블 5개에 데이터 분배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1005840" cy="868680"/>
          </a:xfrm>
          <a:prstGeom prst="roundRect">
            <a:avLst>
              <a:gd name="adj" fmla="val 8421"/>
            </a:avLst>
          </a:prstGeom>
          <a:solidFill>
            <a:srgbClr val="0E80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20056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50932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547725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로 각 테이블 236,378건 정상 입력 확인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결과: 모든 테이블 236,378건 확인 완료  ·  분석 결과 29건 저장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ANALYSIS (1/2)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 ① 연령 · BMI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연령대별 당뇨병 비율 (%)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BMI 구간별 당뇨병 비율 (%)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82880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나이가 많을수록, BMI가 높을수록 당뇨병 비율이 뚜렷하게 증가합니다.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3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9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ANALYSIS (2/2)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 ② 위험요인 개수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위험요인: 고혈압·고콜레스테롤·흡연·운동부족·비만(BMI≥30)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680960" y="201168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0E808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5528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401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9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위험요인 0개일 때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023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46.4%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6451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위험요인 5개일 때 — 약 18배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ANALYSIS — EXTENDED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 ③ 사회요인 · 보호요인 · 조합</a:t>
            </a:r>
            <a:endParaRPr lang="en-US" sz="3000" dirty="0"/>
          </a:p>
        </p:txBody>
      </p:sp>
      <p:pic>
        <p:nvPicPr>
          <p:cNvPr id="4" name="Image 0" descr="/home/user/diabetes/extra_analysis_ch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813816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69680" y="1417320"/>
            <a:ext cx="2788920" cy="4892040"/>
          </a:xfrm>
          <a:prstGeom prst="roundRect">
            <a:avLst>
              <a:gd name="adj" fmla="val 3279"/>
            </a:avLst>
          </a:prstGeom>
          <a:solidFill>
            <a:srgbClr val="F3F7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09828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인사이트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098280" y="2194560"/>
            <a:ext cx="310896" cy="310896"/>
          </a:xfrm>
          <a:prstGeom prst="ellipse">
            <a:avLst/>
          </a:prstGeom>
          <a:solidFill>
            <a:srgbClr val="0E808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09828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509760" y="2148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소득·학력 낮을수록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098280" y="257860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당뇨병 비율 ↑ (사회적 격차)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098280" y="3520440"/>
            <a:ext cx="310896" cy="310896"/>
          </a:xfrm>
          <a:prstGeom prst="ellipse">
            <a:avLst/>
          </a:prstGeom>
          <a:solidFill>
            <a:srgbClr val="0E808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09828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50976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운동하면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098280" y="390448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절반으로 ↓ (예방 가능)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98280" y="4846320"/>
            <a:ext cx="310896" cy="310896"/>
          </a:xfrm>
          <a:prstGeom prst="ellipse">
            <a:avLst/>
          </a:prstGeom>
          <a:solidFill>
            <a:srgbClr val="0E808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098280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509760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고혈압+비만 함께면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523036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3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4.6% → 31.3% 급증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 및 소감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3F7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· 데이터 확보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3F7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6700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DB(DW) 설계 · ER 다이어그램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26700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328416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3F7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32841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구현 · 데이터 입력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33284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OOO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3F7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8678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분석 · 발표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3986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E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OOO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0C3B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조원 소감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9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조원별로 한 줄씩 소감을 작성해 주세요.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2026-09-28T00:15:42Z</dcterms:created>
  <dcterms:modified xsi:type="dcterms:W3CDTF">2026-09-28T00:15:42Z</dcterms:modified>
</cp:coreProperties>
</file>